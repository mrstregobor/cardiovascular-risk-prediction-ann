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68680"/>
            <a:ext cx="5577840" cy="1737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0B1F4D"/>
                </a:solidFill>
                <a:latin typeface="Aptos Display"/>
              </a:rPr>
              <a:t>HEART DISEASE
PREDICTION USING A
CUSTOM NEURAL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88920"/>
            <a:ext cx="502920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Aptos"/>
              </a:rPr>
              <a:t>Machine Learning Course Project
Built from scratch using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074920"/>
            <a:ext cx="59436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0" dirty="0">
                <a:solidFill>
                  <a:srgbClr val="4B5563"/>
                </a:solidFill>
                <a:latin typeface="Aptos"/>
              </a:rPr>
              <a:t>National University of Sciences &amp; Technology
Military College of Signals
Department of Information Security</a:t>
            </a:r>
          </a:p>
        </p:txBody>
      </p:sp>
      <p:pic>
        <p:nvPicPr>
          <p:cNvPr id="5" name="Picture 4" descr="ann_architecture_for_heart_disease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96115"/>
            <a:ext cx="4389120" cy="3105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12280" y="516636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B31B1B"/>
                </a:solidFill>
                <a:latin typeface="Aptos"/>
              </a:rPr>
              <a:t>ANN Architecture: 13 → 7 → 7 → 7 → 7 →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Binary classification using a neural network implemented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8978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This project builds a system that predicts whether a patient is likely to have heart disease or not.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prediction is based on clinical attributes such as age, chest pain type, blood pressure, cholesterol, maximum heart rate, and other medical indicators.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neural network is implemented manually using NumPy instead of deep learning libraries such as TensorFlow or PyTorch.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Forward propagation, loss calculation, backpropagation, and gradient descent are coded step by step.</a:t>
            </a:r>
          </a:p>
        </p:txBody>
      </p:sp>
      <p:pic>
        <p:nvPicPr>
          <p:cNvPr id="7" name="Picture 6" descr="heart_disease_prediction_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60945"/>
            <a:ext cx="4480560" cy="31703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733186"/>
              </p:ext>
            </p:extLst>
          </p:nvPr>
        </p:nvGraphicFramePr>
        <p:xfrm>
          <a:off x="2560320" y="1554480"/>
          <a:ext cx="7040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S. No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Names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NC Ali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NC Haider 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NC </a:t>
                      </a:r>
                      <a:r>
                        <a:rPr lang="en-US" sz="1600" b="0" dirty="0" err="1">
                          <a:solidFill>
                            <a:srgbClr val="111827"/>
                          </a:solidFill>
                          <a:latin typeface="Aptos"/>
                        </a:rPr>
                        <a:t>Haris</a:t>
                      </a:r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 Abdullah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NC Huzaifa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60320" y="5074920"/>
            <a:ext cx="70408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0B1F4D"/>
                </a:solidFill>
                <a:latin typeface="Aptos"/>
              </a:rPr>
              <a:t>Project: Heart Disease Prediction Using Custom ANN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17320"/>
            <a:ext cx="9692640" cy="44012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rPr sz="2800" dirty="0"/>
              <a:t>Understand and implement the mathematical foundations of artificial neural networks.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rPr sz="2800" dirty="0"/>
              <a:t>Build a multi-layer feedforward neural network for binary classification.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rPr sz="2800" dirty="0"/>
              <a:t>Apply the model to a real-world heart disease dataset and evaluate its performance.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rPr sz="2800" dirty="0"/>
              <a:t>Use sigmoid activation in each node as required by the project statement.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rPr sz="2800" dirty="0"/>
              <a:t>Analyze the model using accuracy, precision, recall, F1 score, and confusion matrix.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Heart disease dataset with clinical attributes and a binary target label.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0292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dataset is stored in CSV format as heart.csv.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Each record represents one patient sample.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dataset contains 13 input features and 1 target column.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target column shows whether heart disease is absent or present.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target = 0 means No Disease; target = 1 means Disease.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41732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Part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Input features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13 clinical parameters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Target label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Task type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Binary classification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Model output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Aptos"/>
                        </a:rPr>
                        <a:t>0 or 1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Input parameters used by the ANN.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201399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Feature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age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Age of the patient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sex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Sex of the patient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Categorical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Chest pain type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trestbps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Resting blood pressure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chol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Serum cholesterol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fbs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Fasting blood sugar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restecg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Categorical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Resting ECG result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thalach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Maximum heart rate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exang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Exercise induced angina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oldpeak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ST depression value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slope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Categorical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Slope of ST segment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ca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Numerical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Major vessels count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thal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Categorical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Thalassemia result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11827"/>
                          </a:solidFill>
                          <a:latin typeface="Aptos"/>
                        </a:rPr>
                        <a:t>0 = No Disease, 1 = Disease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PRE-PROCESSING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Preparing the raw CSV data for neural network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241280" cy="166199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The CSV file was loaded using Pandas.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Missing values were removed using </a:t>
            </a:r>
            <a:r>
              <a:rPr dirty="0" err="1"/>
              <a:t>dropna</a:t>
            </a:r>
            <a:r>
              <a:rPr dirty="0"/>
              <a:t>() so the model receives clean numerical input.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The 13 clinical columns were selected as input features.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The target column was separated as the output label.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Features were standardized using </a:t>
            </a:r>
            <a:r>
              <a:rPr dirty="0" err="1"/>
              <a:t>StandardScaler</a:t>
            </a:r>
            <a:r>
              <a:rPr dirty="0"/>
              <a:t> to improve training stability.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rPr dirty="0"/>
              <a:t>No duplicate filtering was applied, so the dataset remained in its original form except for missing-value handling.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TRAIN / TEST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The dataset was divided into training and testing portions.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394960" cy="4251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t>80% of the data was used for training the ANN.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t>20% of the data was reserved for testing the final model performance.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t>Stratified splitting was used so both classes remained balanced in training and testing sets.</a:t>
            </a:r>
          </a:p>
          <a:p>
            <a:pPr>
              <a:buChar char="•"/>
              <a:defRPr sz="1800">
                <a:solidFill>
                  <a:srgbClr val="111827"/>
                </a:solidFill>
                <a:latin typeface="Aptos"/>
              </a:defRPr>
            </a:pPr>
            <a:r>
              <a:t>The model only learned from the training set, while evaluation was performed on the testing set.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29400" y="1645920"/>
          <a:ext cx="4251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Parameter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Train size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Test size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20%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Random state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42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Stratify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Overall workflow of the heart disease prediction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9</a:t>
            </a:r>
          </a:p>
        </p:txBody>
      </p:sp>
      <p:pic>
        <p:nvPicPr>
          <p:cNvPr id="6" name="Picture 5" descr="heart_disease_prediction_methodology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872" y="1325880"/>
            <a:ext cx="691377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NEURAL NETWORK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Fully connected feedforward ANN with four hidden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10</a:t>
            </a:r>
          </a:p>
        </p:txBody>
      </p:sp>
      <p:pic>
        <p:nvPicPr>
          <p:cNvPr id="6" name="Picture 5" descr="ann_architecture_for_heart_disease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32" y="1325880"/>
            <a:ext cx="691377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NETWORK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Layer-by-layer structure of the ANN.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1188720"/>
          <a:ext cx="102412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Layer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Neurons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Activation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-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1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Hidden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2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Hidden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3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Hidden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71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4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Hidden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174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Layer 5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5440680"/>
            <a:ext cx="98755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The output neuron produces a probability value between 0 and 1. A threshold of 0.5 is used to convert it into the final class.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WEIGHT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Weights and biases connecting each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34440"/>
          <a:ext cx="10698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Matrix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Shape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Bias Shape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Connection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W1, b1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(13, 7)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(1, 7)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Input → Hidden 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W2, b2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(7, 7)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(1, 7)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Hidden 1 → Hidden 2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W3, b3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(7, 7)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(1, 7)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Hidden 2 → Hidden 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W4, b4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(7, 7)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(1, 7)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Hidden 3 → Hidden 4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W5, b5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(7, 1)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(1, 1)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827"/>
                          </a:solidFill>
                          <a:latin typeface="Aptos"/>
                        </a:rPr>
                        <a:t>Hidden 4 → Output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5166360"/>
            <a:ext cx="10058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ptos"/>
              </a:rPr>
              <a:t>Weights were initialized using random normal values with scaled initialization. Biases were initialized to zero.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Core mathematical components of the ANN.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058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Activation Function: Sigmoid function was used on all hidden and output neurons.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Forward Propagation: input data moves layer by layer through weighted sums and activations.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Loss Function: Binary Cross-Entropy measures the difference between predicted and actual labels.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Backpropagation: gradients are calculated using the chain rule from output layer back to input layer.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Gradient Descent: weights and biases are updated to reduce the loss.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How the model learns from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658368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The training loop runs for multiple epochs.</a:t>
            </a:r>
          </a:p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At each epoch, forward propagation calculates predictions for the training set.</a:t>
            </a:r>
          </a:p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Binary cross-entropy loss is calculated from the predicted and actual target values.</a:t>
            </a:r>
          </a:p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Backpropagation calculates gradients for W1 to W5 and b1 to b5.</a:t>
            </a:r>
          </a:p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Gradient descent updates all weights and biases using the learning rate.</a:t>
            </a:r>
          </a:p>
          <a:p>
            <a:pPr>
              <a:buChar char="•"/>
              <a:defRPr sz="1600">
                <a:solidFill>
                  <a:srgbClr val="111827"/>
                </a:solidFill>
                <a:latin typeface="Aptos"/>
              </a:defRPr>
            </a:pPr>
            <a:r>
              <a:t>Training loss is stored and plotted to observe model learning progress.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417320"/>
          <a:ext cx="36118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Hyperparameter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5000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Learning Rate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0.1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Activation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Sigmoid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Loss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Binary Cross-Entropy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Optimizer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827"/>
                          </a:solidFill>
                          <a:latin typeface="Aptos"/>
                        </a:rPr>
                        <a:t>Gradient Descent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RESULTS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Performance metrics calculated on the testing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187190"/>
              </p:ext>
            </p:extLst>
          </p:nvPr>
        </p:nvGraphicFramePr>
        <p:xfrm>
          <a:off x="1143000" y="1234440"/>
          <a:ext cx="46634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36576" marB="36576">
                    <a:solidFill>
                      <a:srgbClr val="0B5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Training Accuracy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82.44%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Testing Accuracy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80.98%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77%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89.52%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11827"/>
                          </a:solidFill>
                          <a:latin typeface="Aptos"/>
                        </a:rPr>
                        <a:t>F1 Score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rgbClr val="111827"/>
                          </a:solidFill>
                          <a:latin typeface="Aptos"/>
                        </a:rPr>
                        <a:t>82.82%</a:t>
                      </a:r>
                      <a:endParaRPr sz="1600" b="0" dirty="0">
                        <a:solidFill>
                          <a:srgbClr val="111827"/>
                        </a:solidFill>
                        <a:latin typeface="Aptos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46520" y="1371600"/>
            <a:ext cx="47548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t>Accuracy shows the overall percentage of correct predictions.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t>Precision shows how many predicted disease cases were actually disease cases.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t>Recall shows how many real disease cases were correctly identified.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t>F1 Score balances Precision and Recall into one metric.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RESULTS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Confusion matrix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25880"/>
            <a:ext cx="4206240" cy="1046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True Negatives  (TN): 72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False Positives (FP): 28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False Negatives (FN): 11</a:t>
            </a:r>
          </a:p>
          <a:p>
            <a:pPr>
              <a:buChar char="•"/>
              <a:defRPr sz="1550">
                <a:solidFill>
                  <a:srgbClr val="111827"/>
                </a:solidFill>
                <a:latin typeface="Aptos"/>
              </a:defRPr>
            </a:pPr>
            <a:r>
              <a:rPr lang="en-US" dirty="0"/>
              <a:t>True Positives  (TP): 94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A867FF-5426-4567-A9B2-4203A872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47" y="1369883"/>
            <a:ext cx="5677392" cy="44428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Understanding the model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058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model achieved high testing performance on the given dataset.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sigmoid-based feedforward network was able to learn important patterns from the clinical attributes.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High performance may also be influenced by repeated patterns or similarity between records in the dataset.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Standardization helped stabilize the numerical features before training.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confusion matrix shows that the number of incorrect predictions was low compared to correct predictions.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Limitations observed in the ANN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058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Using sigmoid activation in all hidden layers can cause vanishing gradients in deep networks.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model uses full-batch gradient descent, which can be slower than mini-batch training.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dataset is relatively small for a deep neural network architecture.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No regularization techniques such as dropout or L2 penalty were used.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Very high accuracy should be discussed carefully because dataset repetition can make results look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0B1F4D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3716"/>
          </a:xfrm>
          <a:prstGeom prst="rect">
            <a:avLst/>
          </a:prstGeom>
          <a:solidFill>
            <a:srgbClr val="0B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914400"/>
            <a:ext cx="10972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4B5563"/>
                </a:solidFill>
                <a:latin typeface="Aptos"/>
              </a:rPr>
              <a:t>Summary of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537960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50" b="0">
                <a:solidFill>
                  <a:srgbClr val="6B7280"/>
                </a:solidFill>
                <a:latin typeface="Aptos"/>
              </a:rPr>
              <a:t>Heart Disease ANN Project  •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058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This project successfully implemented an artificial neural network from scratch using NumPy.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ANN used 13 input features, four hidden layers with seven neurons each, and one output neuron.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Forward propagation, binary cross-entropy loss, backpropagation, and gradient descent were manually coded.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model was evaluated using accuracy, precision, recall, F1 score, and confusion matrix.</a:t>
            </a:r>
          </a:p>
          <a:p>
            <a:pPr>
              <a:buChar char="•"/>
              <a:defRPr sz="1700">
                <a:solidFill>
                  <a:srgbClr val="111827"/>
                </a:solidFill>
                <a:latin typeface="Aptos"/>
              </a:defRPr>
            </a:pPr>
            <a:r>
              <a:t>The project demonstrates a strong understanding of the complete neural network training pipeline.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40280"/>
            <a:ext cx="10515600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400" b="1">
                <a:solidFill>
                  <a:srgbClr val="0B1F4D"/>
                </a:solidFill>
                <a:latin typeface="Aptos Display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108960"/>
            <a:ext cx="81381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0">
                <a:solidFill>
                  <a:srgbClr val="4B5563"/>
                </a:solidFill>
                <a:latin typeface="Aptos"/>
              </a:rPr>
              <a:t>Heart Disease Prediction Using a Custom Neural Network</a:t>
            </a:r>
          </a:p>
        </p:txBody>
      </p:sp>
      <p:pic>
        <p:nvPicPr>
          <p:cNvPr id="4" name="Picture 3" descr="ann_architecture_for_heart_disease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185" y="3794760"/>
            <a:ext cx="2584588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1428</Words>
  <Application>Microsoft Office PowerPoint</Application>
  <PresentationFormat>Widescreen</PresentationFormat>
  <Paragraphs>270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Ali Ch</cp:lastModifiedBy>
  <cp:revision>2</cp:revision>
  <dcterms:created xsi:type="dcterms:W3CDTF">2013-01-27T09:14:16Z</dcterms:created>
  <dcterms:modified xsi:type="dcterms:W3CDTF">2026-05-05T13:32:14Z</dcterms:modified>
  <cp:category/>
</cp:coreProperties>
</file>